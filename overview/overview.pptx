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61" r:id="rId6"/>
    <p:sldId id="259" r:id="rId7"/>
    <p:sldId id="262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EFB0F-F96A-470E-9722-F0BA8D94D198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18103-5F9A-4863-A989-E62D0CB33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45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18103-5F9A-4863-A989-E62D0CB334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61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48561-988D-1301-CA5E-0CDC6643B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339793-F88B-6DD7-D64B-D39CC713E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B33791-1035-FBB8-A8C8-20FDDDDC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9CCE73-8E13-1B38-8DB6-E104D9C7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195866-DB41-29C3-BC0E-3B5BA2D3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6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5EA4B-9A4F-1277-B274-B5A06D97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49780-97EF-AFD3-BC47-AFEA9BFE0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4E1BEA-B4FE-E551-30C1-F5ECE51C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04579-0B55-5FE7-65FB-DE969DF2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98B848-E01A-32FD-DAE8-4CC5CE01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49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07E84-889E-BAD5-8E9E-161E3D80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618EA2-05CB-6941-C2CA-A35F88B4F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13BE0B-36A9-B9E5-66A3-1F29C7F4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4F6E5-EFE1-5D1F-0288-ED85EDF8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6BA2EB-995E-1A1B-A90F-75550F0B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76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2E392-3359-5C66-6712-1AF3451B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515A50-A81E-BA72-8FDC-C332BEB62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725E02-94D0-A220-CCD2-8086735B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C64364-5F05-D9AC-B0FC-5F28C972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4AA7B1-38AE-1202-53C1-EA009399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AD7A8B-7BA0-918A-FE65-510945E3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7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F80F0-7F14-FDAB-A9CA-92EBC194C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530E20-2676-F97E-56CD-822DA4E24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91A945-ADDF-0345-3D48-D4E5C8019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E087D4-DA41-56F5-E374-64F6BA6B9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BCC261-9685-E765-75F1-643B2E682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1319CF-D3FB-1945-D33E-5A0ABB0F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831E56-D469-6B1B-26E6-A76279F3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D4F5B7-8E20-C487-5FC4-D9BB1B4D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52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F9E72-DE01-49BF-E774-7163DC36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781B74-5B54-6BA1-69A2-1ED2B6281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9EB954-B60C-2362-CCDC-92A9A753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279299-4660-DF57-D960-E01ACCB5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69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E28E2D-BC5B-9627-9857-85B4C64C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4C49FE-C749-789B-226A-9D05BCFC2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5FFA2-6A18-6D91-7B40-860787D3D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73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66FCA-D16F-B63D-8657-51CD05EE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68B8C-9967-FF7A-A7E9-DF6CAC1AB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CA17E2-12DF-2AE8-78A6-C359CF5FE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C84641-26B5-6C06-D9C2-C4578BB5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BA568A-4D63-CF46-703D-8F26D3F3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3906E5-411F-515A-0696-0C88D6C2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89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2D71E-2C59-C898-825E-13026064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4B310-1225-5C2D-3852-33A058607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902CE2-9AA0-3455-574A-443D43285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B09FB-430A-946A-6B13-F0B7FBBE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FAE172-7488-3FE3-7EBA-E071536E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3B16D9-F4F4-F188-A5A8-7CA7E750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67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FB0B3-A984-3C8D-5A17-4A47C2E8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16B7F-8EB4-CB5D-B027-1253F3F2C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492E1B-9C5A-01F6-1727-CD356F39E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F623CB-EEB0-0E35-A62D-370F49F4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F80B14-CEBD-6252-9ED8-7849286D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26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E0182C-631F-F92B-1BF0-88160134D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BE4A9B-5EBC-C27F-3D00-FA4EEAB8D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12EB5-A5DD-FEDE-955C-F1422EC4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03580F-F5ED-9730-054B-139009F9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D20CB2-C1B6-5D53-7D99-7FF0700A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05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B82548-53E4-B324-1230-D0C9216D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4580DF-CAC8-7FC6-140C-0539C2E7E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005DE1-424A-BD59-D240-D52386464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FDC8A-1560-4433-B611-D0CAEBF6934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449232-6D32-764B-1287-452184D66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8E8F8-4745-9195-0CF3-896FD36B6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6FD56-8898-4C6A-88C3-F4E16823B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12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C2543-49B9-B0FD-2E33-8B36E292F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79" y="722201"/>
            <a:ext cx="10375641" cy="2428693"/>
          </a:xfrm>
        </p:spPr>
        <p:txBody>
          <a:bodyPr>
            <a:normAutofit fontScale="90000"/>
          </a:bodyPr>
          <a:lstStyle/>
          <a:p>
            <a:r>
              <a:rPr lang="en-US" altLang="zh-CN" sz="48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Mobile-Efficient Image Super-Resolution </a:t>
            </a:r>
            <a:br>
              <a:rPr lang="en-US" altLang="zh-CN" sz="48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8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Plain-Endpoint ECB Networks</a:t>
            </a:r>
            <a:br>
              <a:rPr lang="en-US" altLang="zh-CN" sz="48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48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b="0" dirty="0" err="1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Yuebo</a:t>
            </a:r>
            <a:r>
              <a:rPr lang="en-US" altLang="zh-CN" sz="36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Hu </a:t>
            </a:r>
            <a:endParaRPr lang="en-US" altLang="zh-CN" sz="4800" b="0" dirty="0">
              <a:solidFill>
                <a:srgbClr val="14141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08FB2F-D2EF-E2A3-81A9-80798B867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171" y="3498849"/>
            <a:ext cx="1917700" cy="19177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E91C7CA-B1CA-F6CF-D6F9-0AB446234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970" y="3498849"/>
            <a:ext cx="1917700" cy="19177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A52C20C-88FE-D9AC-A5AF-C3D3F006D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30" y="3498849"/>
            <a:ext cx="1917700" cy="19177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39E3C9C-45F9-B9BD-3DCF-B1C752ECD7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130" y="3498850"/>
            <a:ext cx="1917699" cy="1917699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D50D644-1738-E310-8EE1-66C10EBA6F1B}"/>
              </a:ext>
            </a:extLst>
          </p:cNvPr>
          <p:cNvCxnSpPr/>
          <p:nvPr/>
        </p:nvCxnSpPr>
        <p:spPr>
          <a:xfrm>
            <a:off x="2756030" y="4457699"/>
            <a:ext cx="9271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418C1B1-A96C-90C1-DABF-94A4947BFE30}"/>
              </a:ext>
            </a:extLst>
          </p:cNvPr>
          <p:cNvCxnSpPr/>
          <p:nvPr/>
        </p:nvCxnSpPr>
        <p:spPr>
          <a:xfrm>
            <a:off x="8508870" y="4432298"/>
            <a:ext cx="9271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E510187-81B6-D149-091C-FC85F7C0C4B6}"/>
              </a:ext>
            </a:extLst>
          </p:cNvPr>
          <p:cNvSpPr txBox="1"/>
          <p:nvPr/>
        </p:nvSpPr>
        <p:spPr>
          <a:xfrm>
            <a:off x="2870394" y="4088367"/>
            <a:ext cx="635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6E09F1-F406-7281-67BA-1EFD72050A01}"/>
              </a:ext>
            </a:extLst>
          </p:cNvPr>
          <p:cNvSpPr txBox="1"/>
          <p:nvPr/>
        </p:nvSpPr>
        <p:spPr>
          <a:xfrm>
            <a:off x="7232456" y="5416549"/>
            <a:ext cx="635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88F9D5-0F4A-41A6-A9EB-539B2A228C0D}"/>
              </a:ext>
            </a:extLst>
          </p:cNvPr>
          <p:cNvSpPr txBox="1"/>
          <p:nvPr/>
        </p:nvSpPr>
        <p:spPr>
          <a:xfrm>
            <a:off x="4324414" y="5395173"/>
            <a:ext cx="635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B843B5-E6C4-D8FA-3762-34450379D05E}"/>
              </a:ext>
            </a:extLst>
          </p:cNvPr>
          <p:cNvSpPr txBox="1"/>
          <p:nvPr/>
        </p:nvSpPr>
        <p:spPr>
          <a:xfrm>
            <a:off x="10140498" y="5424019"/>
            <a:ext cx="635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89234D-88E9-C483-CB50-2D2566D92B33}"/>
              </a:ext>
            </a:extLst>
          </p:cNvPr>
          <p:cNvSpPr txBox="1"/>
          <p:nvPr/>
        </p:nvSpPr>
        <p:spPr>
          <a:xfrm>
            <a:off x="1410218" y="5395172"/>
            <a:ext cx="635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D7C036-199F-25FD-2C73-B13E042DE80E}"/>
              </a:ext>
            </a:extLst>
          </p:cNvPr>
          <p:cNvSpPr txBox="1"/>
          <p:nvPr/>
        </p:nvSpPr>
        <p:spPr>
          <a:xfrm>
            <a:off x="8654855" y="4088367"/>
            <a:ext cx="635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38978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65BF-3D03-24F7-2FFC-400F2CD5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309983"/>
            <a:ext cx="2607906" cy="74210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63B85A4-0BF3-4980-596F-13A651A23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30" y="1419626"/>
            <a:ext cx="4726284" cy="35514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D049B62-1A46-000A-505D-C1C4564328CC}"/>
              </a:ext>
            </a:extLst>
          </p:cNvPr>
          <p:cNvSpPr txBox="1"/>
          <p:nvPr/>
        </p:nvSpPr>
        <p:spPr>
          <a:xfrm>
            <a:off x="315686" y="1302532"/>
            <a:ext cx="69291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SOTA models like 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SwinIR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cannot balance quality and on-device latency, since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blocks blow up size and computation.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Instead, many mobile-efficient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models:</a:t>
            </a:r>
          </a:p>
          <a:p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operate at LR and then 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PixelShuffle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use Edge-oriented Convolution Blocks (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ECB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further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residuals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smaller latency. PECSR (ours) is 14% faster, at a 0.51% PSNR cost relative to standard ECBSR (reproduced baseline).</a:t>
            </a:r>
          </a:p>
        </p:txBody>
      </p:sp>
    </p:spTree>
    <p:extLst>
      <p:ext uri="{BB962C8B-B14F-4D97-AF65-F5344CB8AC3E}">
        <p14:creationId xmlns:p14="http://schemas.microsoft.com/office/powerpoint/2010/main" val="311044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65BF-3D03-24F7-2FFC-400F2CD5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309983"/>
            <a:ext cx="3369291" cy="742108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Design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2B26AAA-E658-6261-E7C3-E27530F33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5" y="2190424"/>
            <a:ext cx="5688190" cy="339550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255803B-9848-379C-07C6-39894106573B}"/>
              </a:ext>
            </a:extLst>
          </p:cNvPr>
          <p:cNvSpPr txBox="1"/>
          <p:nvPr/>
        </p:nvSpPr>
        <p:spPr>
          <a:xfrm>
            <a:off x="4030825" y="1443976"/>
            <a:ext cx="8447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 Edge-oriented Convolution Blocks (ECB):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multi-branch block → more capacity / better edges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fold to one dense 3×3 → same cost as a plain CNN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6BFE9B-8202-60AC-08A4-97E4836B8204}"/>
              </a:ext>
            </a:extLst>
          </p:cNvPr>
          <p:cNvSpPr txBox="1"/>
          <p:nvPr/>
        </p:nvSpPr>
        <p:spPr>
          <a:xfrm>
            <a:off x="4030825" y="4074787"/>
            <a:ext cx="8447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operators matter for SR quality: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first-order gradients → horizontal / vertical edges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Laplacian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second-order → ridges, corners, texture</a:t>
            </a:r>
          </a:p>
        </p:txBody>
      </p:sp>
    </p:spTree>
    <p:extLst>
      <p:ext uri="{BB962C8B-B14F-4D97-AF65-F5344CB8AC3E}">
        <p14:creationId xmlns:p14="http://schemas.microsoft.com/office/powerpoint/2010/main" val="2851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4E5F321-3651-6A73-F9FF-92917C047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04" y="1052091"/>
            <a:ext cx="7831494" cy="25642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5DC65BF-3D03-24F7-2FFC-400F2CD5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309983"/>
            <a:ext cx="3369291" cy="742108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Design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63983C-EE81-BD38-AB14-572CC5D83DC0}"/>
              </a:ext>
            </a:extLst>
          </p:cNvPr>
          <p:cNvSpPr txBox="1"/>
          <p:nvPr/>
        </p:nvSpPr>
        <p:spPr>
          <a:xfrm>
            <a:off x="6425469" y="3724726"/>
            <a:ext cx="53957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design: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Use plain head and tail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Apply ECB only to equal-channel (C →C) body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residual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Ours has 6 (20%) less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NCNN graph layers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D91903-0B91-79C1-D27F-40BDCEDBABEB}"/>
              </a:ext>
            </a:extLst>
          </p:cNvPr>
          <p:cNvSpPr txBox="1"/>
          <p:nvPr/>
        </p:nvSpPr>
        <p:spPr>
          <a:xfrm>
            <a:off x="105747" y="2802966"/>
            <a:ext cx="1340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(reproduced baseline)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084FD6-C095-5781-FBE5-A00A7340D24B}"/>
              </a:ext>
            </a:extLst>
          </p:cNvPr>
          <p:cNvSpPr txBox="1"/>
          <p:nvPr/>
        </p:nvSpPr>
        <p:spPr>
          <a:xfrm>
            <a:off x="214404" y="1572472"/>
            <a:ext cx="1340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7E8C64-DCC1-95B3-DD65-5E306517A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406" y="3928540"/>
            <a:ext cx="3139594" cy="28385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0DA9314-E93B-7D9D-6287-B4ACCF386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448" y="4023800"/>
            <a:ext cx="2102836" cy="26480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8776BA-11A8-7954-AE3D-75DF472757EF}"/>
              </a:ext>
            </a:extLst>
          </p:cNvPr>
          <p:cNvSpPr txBox="1"/>
          <p:nvPr/>
        </p:nvSpPr>
        <p:spPr>
          <a:xfrm>
            <a:off x="8208250" y="1316370"/>
            <a:ext cx="34208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PECSR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Plain-Endpoint ECB Super-Resolution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63537D-A505-BD8C-7898-675404F8B376}"/>
              </a:ext>
            </a:extLst>
          </p:cNvPr>
          <p:cNvSpPr txBox="1"/>
          <p:nvPr/>
        </p:nvSpPr>
        <p:spPr>
          <a:xfrm>
            <a:off x="8208250" y="2418245"/>
            <a:ext cx="34208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ECBSR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Edge-oriented Convolution Blocks SR</a:t>
            </a:r>
          </a:p>
        </p:txBody>
      </p:sp>
    </p:spTree>
    <p:extLst>
      <p:ext uri="{BB962C8B-B14F-4D97-AF65-F5344CB8AC3E}">
        <p14:creationId xmlns:p14="http://schemas.microsoft.com/office/powerpoint/2010/main" val="164645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65BF-3D03-24F7-2FFC-400F2CD5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309983"/>
            <a:ext cx="3665375" cy="742108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Setup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E36746-BBE3-C4E4-20DE-18BE3B2E9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5" y="1007587"/>
            <a:ext cx="4904724" cy="57630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4905064-6484-D5B2-D901-6F1A078D10DA}"/>
              </a:ext>
            </a:extLst>
          </p:cNvPr>
          <p:cNvSpPr txBox="1"/>
          <p:nvPr/>
        </p:nvSpPr>
        <p:spPr>
          <a:xfrm>
            <a:off x="5650935" y="1762061"/>
            <a:ext cx="60950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fair budget controls optimizer updates.</a:t>
            </a:r>
          </a:p>
          <a:p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image sizes vary;</a:t>
            </a:r>
          </a:p>
          <a:p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image size is fixed at 180×180.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C1648F8-2916-1592-D7F0-90CC0C9EE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53" y="3895610"/>
            <a:ext cx="5307791" cy="11043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7BF431E-15FF-0470-79B8-0E9285CB1AE2}"/>
              </a:ext>
            </a:extLst>
          </p:cNvPr>
          <p:cNvSpPr txBox="1"/>
          <p:nvPr/>
        </p:nvSpPr>
        <p:spPr>
          <a:xfrm>
            <a:off x="5650935" y="4999981"/>
            <a:ext cx="6095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results across random seeds are stable.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70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5ACC318-DD58-BD95-6185-D70777F29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30" y="1058655"/>
            <a:ext cx="11307140" cy="222696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5DC65BF-3D03-24F7-2FFC-400F2CD5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309983"/>
            <a:ext cx="2607906" cy="74210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04599B-63A1-6E49-EA8F-93AADCB28C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99" y="3429000"/>
            <a:ext cx="5140098" cy="259905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B06E60E-E827-2F8B-D4C8-9928F9EBF1E0}"/>
              </a:ext>
            </a:extLst>
          </p:cNvPr>
          <p:cNvSpPr txBox="1"/>
          <p:nvPr/>
        </p:nvSpPr>
        <p:spPr>
          <a:xfrm>
            <a:off x="210851" y="3762353"/>
            <a:ext cx="71329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latency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PECSR at 13.33 </a:t>
            </a:r>
            <a:r>
              <a:rPr lang="en-US" altLang="zh-CN" sz="20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14% faster than ECBSR. </a:t>
            </a:r>
          </a:p>
          <a:p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PSNR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PECSR at 27.37 dB, 0.51% weaker than ECBSR. </a:t>
            </a:r>
          </a:p>
          <a:p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metrics clearly outperform FSRCNN.</a:t>
            </a:r>
          </a:p>
          <a:p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trade-off is consistent across multiple evaluation metrics.</a:t>
            </a:r>
          </a:p>
          <a:p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Ablation model “Plain-body” shows ECBs are necessary. </a:t>
            </a:r>
          </a:p>
          <a:p>
            <a:r>
              <a:rPr lang="en-US" altLang="zh-CN" sz="20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SwinIR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latencies at several magnitudes above.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5CB3EF-34F5-9EAB-1791-4213F983695F}"/>
              </a:ext>
            </a:extLst>
          </p:cNvPr>
          <p:cNvSpPr/>
          <p:nvPr/>
        </p:nvSpPr>
        <p:spPr>
          <a:xfrm>
            <a:off x="509199" y="1199786"/>
            <a:ext cx="1069160" cy="19860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6229CD-7242-DC9A-BE2B-9A3D493414D7}"/>
              </a:ext>
            </a:extLst>
          </p:cNvPr>
          <p:cNvSpPr/>
          <p:nvPr/>
        </p:nvSpPr>
        <p:spPr>
          <a:xfrm>
            <a:off x="7063446" y="1154690"/>
            <a:ext cx="869120" cy="19860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51EA35-A55C-5FD8-67AB-AC750A5E132C}"/>
              </a:ext>
            </a:extLst>
          </p:cNvPr>
          <p:cNvSpPr/>
          <p:nvPr/>
        </p:nvSpPr>
        <p:spPr>
          <a:xfrm>
            <a:off x="10943336" y="1154690"/>
            <a:ext cx="869120" cy="19860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2209706-6543-1C15-0BBC-9E47C010C526}"/>
              </a:ext>
            </a:extLst>
          </p:cNvPr>
          <p:cNvCxnSpPr>
            <a:cxnSpLocks/>
          </p:cNvCxnSpPr>
          <p:nvPr/>
        </p:nvCxnSpPr>
        <p:spPr>
          <a:xfrm>
            <a:off x="7469016" y="3148750"/>
            <a:ext cx="3311585" cy="103302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89FD982-C2D3-4208-6F06-BB267246F449}"/>
              </a:ext>
            </a:extLst>
          </p:cNvPr>
          <p:cNvCxnSpPr>
            <a:cxnSpLocks/>
          </p:cNvCxnSpPr>
          <p:nvPr/>
        </p:nvCxnSpPr>
        <p:spPr>
          <a:xfrm flipH="1">
            <a:off x="11275659" y="3148750"/>
            <a:ext cx="137104" cy="208720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9033915-402D-7E9D-2C56-40975ECB7B48}"/>
              </a:ext>
            </a:extLst>
          </p:cNvPr>
          <p:cNvSpPr/>
          <p:nvPr/>
        </p:nvSpPr>
        <p:spPr>
          <a:xfrm>
            <a:off x="7063445" y="1143768"/>
            <a:ext cx="2523193" cy="19860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926C31-1580-F7C9-C40A-B8473479A4B3}"/>
              </a:ext>
            </a:extLst>
          </p:cNvPr>
          <p:cNvSpPr/>
          <p:nvPr/>
        </p:nvSpPr>
        <p:spPr>
          <a:xfrm>
            <a:off x="9650706" y="1153232"/>
            <a:ext cx="2169516" cy="19860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83D671-0B54-70F4-D603-D3A97ED6B951}"/>
              </a:ext>
            </a:extLst>
          </p:cNvPr>
          <p:cNvSpPr/>
          <p:nvPr/>
        </p:nvSpPr>
        <p:spPr>
          <a:xfrm>
            <a:off x="3031077" y="1922959"/>
            <a:ext cx="1069161" cy="9309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2254BF-9FA1-4124-6951-4646FBD808B3}"/>
              </a:ext>
            </a:extLst>
          </p:cNvPr>
          <p:cNvSpPr/>
          <p:nvPr/>
        </p:nvSpPr>
        <p:spPr>
          <a:xfrm>
            <a:off x="5470711" y="2872164"/>
            <a:ext cx="1528666" cy="2765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76FA2D-4504-4606-D132-EC8C7C0764F4}"/>
              </a:ext>
            </a:extLst>
          </p:cNvPr>
          <p:cNvSpPr/>
          <p:nvPr/>
        </p:nvSpPr>
        <p:spPr>
          <a:xfrm>
            <a:off x="9650706" y="2853861"/>
            <a:ext cx="2005356" cy="28832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AD5D41-B4EC-F825-D957-5FE3B6A507BF}"/>
              </a:ext>
            </a:extLst>
          </p:cNvPr>
          <p:cNvSpPr/>
          <p:nvPr/>
        </p:nvSpPr>
        <p:spPr>
          <a:xfrm>
            <a:off x="7255880" y="1922959"/>
            <a:ext cx="2324174" cy="9309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06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8" grpId="0" animBg="1"/>
      <p:bldP spid="8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8" grpId="0" animBg="1"/>
      <p:bldP spid="1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65BF-3D03-24F7-2FFC-400F2CD5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309983"/>
            <a:ext cx="4786318" cy="742108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Observation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B2CB61-C442-A986-934E-D8DBB2203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3" y="1555898"/>
            <a:ext cx="11920114" cy="24914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C1BBCA2-4208-04E2-FE37-5A6DF0C69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39" y="4205075"/>
            <a:ext cx="11920118" cy="249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5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65BF-3D03-24F7-2FFC-400F2CD5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309983"/>
            <a:ext cx="4786318" cy="742108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Observation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B2CB61-C442-A986-934E-D8DBB2203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4" t="20557" r="58339" b="64110"/>
          <a:stretch/>
        </p:blipFill>
        <p:spPr>
          <a:xfrm>
            <a:off x="300643" y="2564563"/>
            <a:ext cx="2556293" cy="268928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C1BBCA2-4208-04E2-FE37-5A6DF0C69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34" t="28164" r="53935" b="42686"/>
          <a:stretch/>
        </p:blipFill>
        <p:spPr>
          <a:xfrm>
            <a:off x="6277956" y="3068380"/>
            <a:ext cx="2704913" cy="207803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F52E87F-1EEB-B213-7E4D-5CEED79D7F14}"/>
              </a:ext>
            </a:extLst>
          </p:cNvPr>
          <p:cNvSpPr txBox="1"/>
          <p:nvPr/>
        </p:nvSpPr>
        <p:spPr>
          <a:xfrm>
            <a:off x="4021904" y="5204142"/>
            <a:ext cx="11168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PECSR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2A6890-4541-841C-E206-EF779DD4942E}"/>
              </a:ext>
            </a:extLst>
          </p:cNvPr>
          <p:cNvSpPr txBox="1"/>
          <p:nvPr/>
        </p:nvSpPr>
        <p:spPr>
          <a:xfrm>
            <a:off x="9934371" y="5204141"/>
            <a:ext cx="11168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PECSR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45525F-8488-7661-F62F-848A5205F2E5}"/>
              </a:ext>
            </a:extLst>
          </p:cNvPr>
          <p:cNvSpPr txBox="1"/>
          <p:nvPr/>
        </p:nvSpPr>
        <p:spPr>
          <a:xfrm>
            <a:off x="913811" y="5204143"/>
            <a:ext cx="1192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ECBSR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D27C42-EB5C-43E2-079D-97E07271EB6F}"/>
              </a:ext>
            </a:extLst>
          </p:cNvPr>
          <p:cNvSpPr txBox="1"/>
          <p:nvPr/>
        </p:nvSpPr>
        <p:spPr>
          <a:xfrm>
            <a:off x="7033953" y="5152117"/>
            <a:ext cx="1192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ECBSR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1CEAE5-1DA5-0953-0B9C-4A43913F5F1D}"/>
              </a:ext>
            </a:extLst>
          </p:cNvPr>
          <p:cNvSpPr txBox="1"/>
          <p:nvPr/>
        </p:nvSpPr>
        <p:spPr>
          <a:xfrm>
            <a:off x="-174171" y="2049789"/>
            <a:ext cx="6774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better between nose, beard, and face.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A8AED8-059A-54FC-2F13-1FD696EF11CA}"/>
              </a:ext>
            </a:extLst>
          </p:cNvPr>
          <p:cNvSpPr txBox="1"/>
          <p:nvPr/>
        </p:nvSpPr>
        <p:spPr>
          <a:xfrm>
            <a:off x="6277956" y="2511454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sawtooth halo (unwanted white line).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91EEB9B-3A22-3D0B-02FF-AC2DC0465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12" t="20371" r="41793" b="63123"/>
          <a:stretch/>
        </p:blipFill>
        <p:spPr>
          <a:xfrm>
            <a:off x="3305486" y="2564563"/>
            <a:ext cx="2412526" cy="268928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FE1A6E7-A8A2-0344-A7C0-A1CAB90E4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31" t="29307" r="37387" b="43036"/>
          <a:stretch/>
        </p:blipFill>
        <p:spPr>
          <a:xfrm>
            <a:off x="9094255" y="3068380"/>
            <a:ext cx="2797102" cy="20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5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65BF-3D03-24F7-2FFC-400F2CD5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309983"/>
            <a:ext cx="2607906" cy="74210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63B85A4-0BF3-4980-596F-13A651A23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30" y="1419626"/>
            <a:ext cx="4726284" cy="35514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D049B62-1A46-000A-505D-C1C4564328CC}"/>
              </a:ext>
            </a:extLst>
          </p:cNvPr>
          <p:cNvSpPr txBox="1"/>
          <p:nvPr/>
        </p:nvSpPr>
        <p:spPr>
          <a:xfrm>
            <a:off x="315686" y="1302532"/>
            <a:ext cx="66822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SR needs both quality and latency.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do this by reducing NCNN graph layers in mobile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ECB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(Edge-oriented Convolution Blocks), we design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PECSR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(Plain-Endpoint ECB SR).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Ablation proves ECB trunk is indispensable.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achieve 14% lower phone latency at the cost of a small 0.51% PSNR gap.</a:t>
            </a:r>
          </a:p>
        </p:txBody>
      </p:sp>
    </p:spTree>
    <p:extLst>
      <p:ext uri="{BB962C8B-B14F-4D97-AF65-F5344CB8AC3E}">
        <p14:creationId xmlns:p14="http://schemas.microsoft.com/office/powerpoint/2010/main" val="330599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101676F-260E-38B3-64C4-B7396ABE9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309983"/>
            <a:ext cx="2856722" cy="74210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706895-0223-4A47-387D-549235F3C132}"/>
              </a:ext>
            </a:extLst>
          </p:cNvPr>
          <p:cNvSpPr txBox="1"/>
          <p:nvPr/>
        </p:nvSpPr>
        <p:spPr>
          <a:xfrm>
            <a:off x="508090" y="1600157"/>
            <a:ext cx="111758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C. Dong et al., “Accelerating the Super-Resolution Convolutional Neural Network,” ECCV, 2016.</a:t>
            </a:r>
          </a:p>
          <a:p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W. Shi et al., “Real-Time Single Image and Video Super-Resolution Using an Efficient Sub-Pixel Convolutional Neural Network,” CVPR, 2016.</a:t>
            </a:r>
          </a:p>
          <a:p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X. Ding et al., “</a:t>
            </a:r>
            <a:r>
              <a:rPr lang="en-US" altLang="zh-CN" sz="2000" b="0" dirty="0" err="1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RepVGG</a:t>
            </a:r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Making VGG-style </a:t>
            </a:r>
            <a:r>
              <a:rPr lang="en-US" altLang="zh-CN" sz="2000" b="0" dirty="0" err="1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ConvNets</a:t>
            </a:r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Great Again,” CVPR, 2021.</a:t>
            </a:r>
          </a:p>
          <a:p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X. Zhang et al., “Edge-oriented Convolution Block for Real-time Super Resolution on Mobile Devices,” ACM MM, 2021.</a:t>
            </a:r>
          </a:p>
          <a:p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[5]J. Liang et al., “</a:t>
            </a:r>
            <a:r>
              <a:rPr lang="en-US" altLang="zh-CN" sz="2000" b="0" dirty="0" err="1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SwinIR</a:t>
            </a:r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Image Restoration Using </a:t>
            </a:r>
            <a:r>
              <a:rPr lang="en-US" altLang="zh-CN" sz="2000" b="0" dirty="0" err="1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Transformer,” ICCV Workshops, 2021.</a:t>
            </a:r>
          </a:p>
          <a:p>
            <a:endParaRPr lang="en-US" altLang="zh-CN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0" dirty="0">
                <a:solidFill>
                  <a:srgbClr val="1414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bibliography in report paper.</a:t>
            </a:r>
          </a:p>
        </p:txBody>
      </p:sp>
    </p:spTree>
    <p:extLst>
      <p:ext uri="{BB962C8B-B14F-4D97-AF65-F5344CB8AC3E}">
        <p14:creationId xmlns:p14="http://schemas.microsoft.com/office/powerpoint/2010/main" val="164151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518</Words>
  <Application>Microsoft Office PowerPoint</Application>
  <PresentationFormat>宽屏</PresentationFormat>
  <Paragraphs>73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Times New Roman</vt:lpstr>
      <vt:lpstr>Office 主题​​</vt:lpstr>
      <vt:lpstr>Mobile-Efficient Image Super-Resolution  with Plain-Endpoint ECB Networks  Yuebo Hu </vt:lpstr>
      <vt:lpstr>Motivation</vt:lpstr>
      <vt:lpstr>Network Design</vt:lpstr>
      <vt:lpstr>Network Design</vt:lpstr>
      <vt:lpstr>Experiment Setup</vt:lpstr>
      <vt:lpstr>Results</vt:lpstr>
      <vt:lpstr>Qualitative Observation</vt:lpstr>
      <vt:lpstr>Qualitative Observation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huyuebo</dc:creator>
  <cp:lastModifiedBy>huyuebo</cp:lastModifiedBy>
  <cp:revision>17</cp:revision>
  <dcterms:created xsi:type="dcterms:W3CDTF">2026-07-11T04:19:30Z</dcterms:created>
  <dcterms:modified xsi:type="dcterms:W3CDTF">2026-07-26T10:11:35Z</dcterms:modified>
</cp:coreProperties>
</file>